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"/>
  </p:notes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81" autoAdjust="0"/>
  </p:normalViewPr>
  <p:slideViewPr>
    <p:cSldViewPr snapToGrid="0">
      <p:cViewPr varScale="1">
        <p:scale>
          <a:sx n="61" d="100"/>
          <a:sy n="61" d="100"/>
        </p:scale>
        <p:origin x="884" y="4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CE401-2190-4FAA-B43C-E18C9EF56A7E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96484-A85C-4802-B0DF-675EF8A9E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7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64975-24D5-E079-3C54-CF9E157E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75A2C-5920-5EDD-70F0-223B7B3E0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9CA45-F4BE-BD97-28B3-19DB04C7F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1B7C9-AAD8-8798-D411-BD8E4F6F5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6484-A85C-4802-B0DF-675EF8A9E9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31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C266F-A84F-2B46-F682-A6FB782E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C1467-2A5E-B946-EE6E-56D616777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14FC1-3967-1CFF-C3F7-E05F04D7B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8B363-5E77-5C72-3F6A-F27840A1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6484-A85C-4802-B0DF-675EF8A9E9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46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1FB7-4FB8-3F78-6B32-081FD8B9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EA44B-1BF2-2FB1-01F1-74A57B6CC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8B166-22B8-3CEA-53EE-926109278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48D59-159C-134B-198D-AB0148D65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96484-A85C-4802-B0DF-675EF8A9E9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47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7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9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3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4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47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3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7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1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73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0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0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A8751741-F7AE-46ED-819F-F86BD3226D87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7B3D51BF-DD1D-4B2B-A279-367E5B7A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00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9CB5-5584-D88F-3591-F3EBBB1FC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CDF27C-230D-EC2B-D6E3-73DC9ACA4C68}"/>
              </a:ext>
            </a:extLst>
          </p:cNvPr>
          <p:cNvSpPr/>
          <p:nvPr/>
        </p:nvSpPr>
        <p:spPr>
          <a:xfrm>
            <a:off x="155936" y="1649636"/>
            <a:ext cx="1885720" cy="95790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63588-D8A6-E194-C036-63095811EADA}"/>
              </a:ext>
            </a:extLst>
          </p:cNvPr>
          <p:cNvSpPr/>
          <p:nvPr/>
        </p:nvSpPr>
        <p:spPr>
          <a:xfrm>
            <a:off x="101781" y="2671030"/>
            <a:ext cx="1939874" cy="107997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8ACF2-DF80-923C-05CC-B7685657D803}"/>
              </a:ext>
            </a:extLst>
          </p:cNvPr>
          <p:cNvSpPr/>
          <p:nvPr/>
        </p:nvSpPr>
        <p:spPr>
          <a:xfrm>
            <a:off x="101781" y="3808246"/>
            <a:ext cx="1910244" cy="124383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A67216-31EC-69B1-4784-9775369FC703}"/>
              </a:ext>
            </a:extLst>
          </p:cNvPr>
          <p:cNvSpPr/>
          <p:nvPr/>
        </p:nvSpPr>
        <p:spPr>
          <a:xfrm>
            <a:off x="124789" y="5137597"/>
            <a:ext cx="1817904" cy="11654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CA700C-2A64-B3F8-0B0F-B60CC0FC5CE2}"/>
              </a:ext>
            </a:extLst>
          </p:cNvPr>
          <p:cNvSpPr txBox="1"/>
          <p:nvPr/>
        </p:nvSpPr>
        <p:spPr>
          <a:xfrm>
            <a:off x="227975" y="1890807"/>
            <a:ext cx="1860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Total Customers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FBCCA3-1FA1-D5A2-FE49-30CD83CFAE23}"/>
              </a:ext>
            </a:extLst>
          </p:cNvPr>
          <p:cNvSpPr txBox="1"/>
          <p:nvPr/>
        </p:nvSpPr>
        <p:spPr>
          <a:xfrm>
            <a:off x="235884" y="2989454"/>
            <a:ext cx="1888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Total Revenue</a:t>
            </a:r>
          </a:p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E28E3A-2C97-A4AE-2E4F-02670D61031A}"/>
              </a:ext>
            </a:extLst>
          </p:cNvPr>
          <p:cNvSpPr txBox="1"/>
          <p:nvPr/>
        </p:nvSpPr>
        <p:spPr>
          <a:xfrm>
            <a:off x="101782" y="4091280"/>
            <a:ext cx="1910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DCG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E899C-7303-95A4-0259-6C279302F751}"/>
              </a:ext>
            </a:extLst>
          </p:cNvPr>
          <p:cNvSpPr txBox="1"/>
          <p:nvPr/>
        </p:nvSpPr>
        <p:spPr>
          <a:xfrm>
            <a:off x="363648" y="5213298"/>
            <a:ext cx="1494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DRG</a:t>
            </a:r>
          </a:p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E0DD58-77C7-A506-9BF3-4135995F3524}"/>
              </a:ext>
            </a:extLst>
          </p:cNvPr>
          <p:cNvSpPr txBox="1"/>
          <p:nvPr/>
        </p:nvSpPr>
        <p:spPr>
          <a:xfrm>
            <a:off x="425877" y="4471394"/>
            <a:ext cx="158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8000"/>
                </a:highlight>
              </a:rPr>
              <a:t>MOM </a:t>
            </a:r>
            <a:r>
              <a:rPr lang="en-US" b="1" dirty="0" err="1">
                <a:solidFill>
                  <a:schemeClr val="bg1"/>
                </a:solidFill>
                <a:highlight>
                  <a:srgbClr val="008000"/>
                </a:highlight>
              </a:rPr>
              <a:t>Chg</a:t>
            </a:r>
            <a:r>
              <a:rPr lang="en-US" b="1" dirty="0">
                <a:solidFill>
                  <a:schemeClr val="bg1"/>
                </a:solidFill>
                <a:highlight>
                  <a:srgbClr val="008000"/>
                </a:highlight>
              </a:rPr>
              <a:t>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D9330A-3568-04F7-D6BD-1E5DEBB2B630}"/>
              </a:ext>
            </a:extLst>
          </p:cNvPr>
          <p:cNvSpPr txBox="1"/>
          <p:nvPr/>
        </p:nvSpPr>
        <p:spPr>
          <a:xfrm>
            <a:off x="460706" y="5627553"/>
            <a:ext cx="158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8000"/>
                </a:highlight>
              </a:rPr>
              <a:t>MOM </a:t>
            </a:r>
            <a:r>
              <a:rPr lang="en-US" b="1" dirty="0" err="1">
                <a:solidFill>
                  <a:schemeClr val="bg1"/>
                </a:solidFill>
                <a:highlight>
                  <a:srgbClr val="008000"/>
                </a:highlight>
              </a:rPr>
              <a:t>Chg</a:t>
            </a:r>
            <a:r>
              <a:rPr lang="en-US" b="1" dirty="0">
                <a:solidFill>
                  <a:schemeClr val="bg1"/>
                </a:solidFill>
                <a:highlight>
                  <a:srgbClr val="008000"/>
                </a:highlight>
              </a:rPr>
              <a:t>%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7C0A3A7-23D2-29E4-1DD0-64167AFAAA7C}"/>
              </a:ext>
            </a:extLst>
          </p:cNvPr>
          <p:cNvSpPr/>
          <p:nvPr/>
        </p:nvSpPr>
        <p:spPr>
          <a:xfrm>
            <a:off x="112321" y="898887"/>
            <a:ext cx="2159082" cy="702019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 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DDD5CA-6AC0-CF8C-C7C1-4616E09ECC1C}"/>
              </a:ext>
            </a:extLst>
          </p:cNvPr>
          <p:cNvSpPr/>
          <p:nvPr/>
        </p:nvSpPr>
        <p:spPr>
          <a:xfrm>
            <a:off x="203235" y="116627"/>
            <a:ext cx="1860981" cy="3812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Company Logo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BD132-9136-D42B-7CD5-D7911D26C955}"/>
              </a:ext>
            </a:extLst>
          </p:cNvPr>
          <p:cNvSpPr/>
          <p:nvPr/>
        </p:nvSpPr>
        <p:spPr>
          <a:xfrm>
            <a:off x="4915322" y="116627"/>
            <a:ext cx="1860981" cy="3812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button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13B523-EEC0-143D-5B01-2BA572D820F0}"/>
              </a:ext>
            </a:extLst>
          </p:cNvPr>
          <p:cNvSpPr/>
          <p:nvPr/>
        </p:nvSpPr>
        <p:spPr>
          <a:xfrm>
            <a:off x="7120366" y="116627"/>
            <a:ext cx="2305524" cy="35924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mode  analysis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CCEFB1-2824-6C95-D7CD-170797D86BD2}"/>
              </a:ext>
            </a:extLst>
          </p:cNvPr>
          <p:cNvSpPr/>
          <p:nvPr/>
        </p:nvSpPr>
        <p:spPr>
          <a:xfrm>
            <a:off x="9631659" y="91785"/>
            <a:ext cx="2174940" cy="4060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 analysis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8CC901-BA58-1FF7-4CB9-4670A570B542}"/>
              </a:ext>
            </a:extLst>
          </p:cNvPr>
          <p:cNvSpPr/>
          <p:nvPr/>
        </p:nvSpPr>
        <p:spPr>
          <a:xfrm>
            <a:off x="5983680" y="952906"/>
            <a:ext cx="6096000" cy="9129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Filters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2CE1B3-FFCA-ACAD-A033-B314D42742D6}"/>
              </a:ext>
            </a:extLst>
          </p:cNvPr>
          <p:cNvSpPr/>
          <p:nvPr/>
        </p:nvSpPr>
        <p:spPr>
          <a:xfrm>
            <a:off x="6984947" y="1152415"/>
            <a:ext cx="1186902" cy="3219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84384A-3405-8EEB-C591-F950AD74CFCD}"/>
              </a:ext>
            </a:extLst>
          </p:cNvPr>
          <p:cNvSpPr/>
          <p:nvPr/>
        </p:nvSpPr>
        <p:spPr>
          <a:xfrm>
            <a:off x="8273128" y="1152414"/>
            <a:ext cx="899988" cy="3219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5279C6-05CD-8F92-232A-4F50A1A30DF5}"/>
              </a:ext>
            </a:extLst>
          </p:cNvPr>
          <p:cNvSpPr/>
          <p:nvPr/>
        </p:nvSpPr>
        <p:spPr>
          <a:xfrm>
            <a:off x="9274394" y="1171728"/>
            <a:ext cx="1186901" cy="3219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Policy ID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50E4AC-429D-FC6D-6300-5A0BEEDCA1D6}"/>
              </a:ext>
            </a:extLst>
          </p:cNvPr>
          <p:cNvSpPr/>
          <p:nvPr/>
        </p:nvSpPr>
        <p:spPr>
          <a:xfrm>
            <a:off x="10619698" y="1179057"/>
            <a:ext cx="1186901" cy="3219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4B8B48B-D2E7-38C0-4DE4-DA2D11920D6A}"/>
              </a:ext>
            </a:extLst>
          </p:cNvPr>
          <p:cNvSpPr/>
          <p:nvPr/>
        </p:nvSpPr>
        <p:spPr>
          <a:xfrm>
            <a:off x="2318703" y="932438"/>
            <a:ext cx="3663013" cy="10503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F370C9-AC83-8D63-C4BB-5D8CD4C6459C}"/>
              </a:ext>
            </a:extLst>
          </p:cNvPr>
          <p:cNvSpPr/>
          <p:nvPr/>
        </p:nvSpPr>
        <p:spPr>
          <a:xfrm>
            <a:off x="2453608" y="1384624"/>
            <a:ext cx="1674796" cy="3773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Revenue trend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46577D-13AD-FFB9-43CE-5DD9FCB2C1D2}"/>
              </a:ext>
            </a:extLst>
          </p:cNvPr>
          <p:cNvSpPr/>
          <p:nvPr/>
        </p:nvSpPr>
        <p:spPr>
          <a:xfrm>
            <a:off x="4171017" y="1384624"/>
            <a:ext cx="1674796" cy="3773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trend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D188EB-754E-D892-2FFD-0D61E33977B5}"/>
              </a:ext>
            </a:extLst>
          </p:cNvPr>
          <p:cNvSpPr txBox="1"/>
          <p:nvPr/>
        </p:nvSpPr>
        <p:spPr>
          <a:xfrm>
            <a:off x="3301347" y="888161"/>
            <a:ext cx="2159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Toggle switch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2020B95-2A01-F523-5F97-8D54FB20C5D0}"/>
              </a:ext>
            </a:extLst>
          </p:cNvPr>
          <p:cNvSpPr/>
          <p:nvPr/>
        </p:nvSpPr>
        <p:spPr>
          <a:xfrm>
            <a:off x="2148930" y="2051429"/>
            <a:ext cx="4701109" cy="195943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revenue by year and month</a:t>
            </a:r>
          </a:p>
          <a:p>
            <a:pPr algn="ctr"/>
            <a:r>
              <a:rPr lang="en-US" dirty="0"/>
              <a:t>Line chart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B656DCE-5566-CF69-B762-CE2D409365DB}"/>
              </a:ext>
            </a:extLst>
          </p:cNvPr>
          <p:cNvSpPr/>
          <p:nvPr/>
        </p:nvSpPr>
        <p:spPr>
          <a:xfrm>
            <a:off x="7167793" y="2008226"/>
            <a:ext cx="4638806" cy="20252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segmented by city and age group</a:t>
            </a:r>
          </a:p>
          <a:p>
            <a:pPr algn="ctr"/>
            <a:r>
              <a:rPr lang="en-US" dirty="0"/>
              <a:t>table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A5603F4-FC6C-F42A-94F5-9BE712B0C313}"/>
              </a:ext>
            </a:extLst>
          </p:cNvPr>
          <p:cNvSpPr/>
          <p:nvPr/>
        </p:nvSpPr>
        <p:spPr>
          <a:xfrm>
            <a:off x="2148930" y="4080825"/>
            <a:ext cx="4647327" cy="24075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 by city</a:t>
            </a:r>
          </a:p>
          <a:p>
            <a:pPr algn="ctr"/>
            <a:r>
              <a:rPr lang="en-US" dirty="0"/>
              <a:t>table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3E90915-89BA-DCE6-3558-3B90D3FEB351}"/>
              </a:ext>
            </a:extLst>
          </p:cNvPr>
          <p:cNvSpPr/>
          <p:nvPr/>
        </p:nvSpPr>
        <p:spPr>
          <a:xfrm>
            <a:off x="7040559" y="4060665"/>
            <a:ext cx="4690735" cy="24075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 by age group</a:t>
            </a:r>
          </a:p>
          <a:p>
            <a:pPr algn="ctr"/>
            <a:r>
              <a:rPr lang="en-US" dirty="0"/>
              <a:t>table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47A398-C082-A69F-2F08-09DF33984448}"/>
              </a:ext>
            </a:extLst>
          </p:cNvPr>
          <p:cNvSpPr/>
          <p:nvPr/>
        </p:nvSpPr>
        <p:spPr>
          <a:xfrm>
            <a:off x="1" y="6505600"/>
            <a:ext cx="12265572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Abbreviations</a:t>
            </a:r>
          </a:p>
        </p:txBody>
      </p:sp>
    </p:spTree>
    <p:extLst>
      <p:ext uri="{BB962C8B-B14F-4D97-AF65-F5344CB8AC3E}">
        <p14:creationId xmlns:p14="http://schemas.microsoft.com/office/powerpoint/2010/main" val="2615332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ED40-1A91-C915-0851-90C618C2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9D49522-CB89-0FCC-9AA2-5174EBA37F43}"/>
              </a:ext>
            </a:extLst>
          </p:cNvPr>
          <p:cNvSpPr/>
          <p:nvPr/>
        </p:nvSpPr>
        <p:spPr>
          <a:xfrm>
            <a:off x="112321" y="898887"/>
            <a:ext cx="2159082" cy="702019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MODE 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24E92B-254E-6DC0-9438-68F01DFD83AF}"/>
              </a:ext>
            </a:extLst>
          </p:cNvPr>
          <p:cNvSpPr/>
          <p:nvPr/>
        </p:nvSpPr>
        <p:spPr>
          <a:xfrm>
            <a:off x="203235" y="116627"/>
            <a:ext cx="1860981" cy="3812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Company Logo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2F8D68-6616-A100-4039-4462DAC3C67C}"/>
              </a:ext>
            </a:extLst>
          </p:cNvPr>
          <p:cNvSpPr/>
          <p:nvPr/>
        </p:nvSpPr>
        <p:spPr>
          <a:xfrm>
            <a:off x="4915322" y="116627"/>
            <a:ext cx="1860981" cy="3812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button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78143E-7D51-02FD-6D9A-901C34A9C074}"/>
              </a:ext>
            </a:extLst>
          </p:cNvPr>
          <p:cNvSpPr/>
          <p:nvPr/>
        </p:nvSpPr>
        <p:spPr>
          <a:xfrm>
            <a:off x="7120366" y="116627"/>
            <a:ext cx="2305524" cy="35924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 analysis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23C4E0-42ED-62AD-0DAE-1818C6B4F0B4}"/>
              </a:ext>
            </a:extLst>
          </p:cNvPr>
          <p:cNvSpPr/>
          <p:nvPr/>
        </p:nvSpPr>
        <p:spPr>
          <a:xfrm>
            <a:off x="9631659" y="91785"/>
            <a:ext cx="2174940" cy="4060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 analysis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B73C5C-DFB2-D179-B299-6D6651F5F55F}"/>
              </a:ext>
            </a:extLst>
          </p:cNvPr>
          <p:cNvSpPr/>
          <p:nvPr/>
        </p:nvSpPr>
        <p:spPr>
          <a:xfrm>
            <a:off x="3047999" y="809432"/>
            <a:ext cx="8893629" cy="9431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Filters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270EC2-4523-C65A-CFBF-3BB005262EAD}"/>
              </a:ext>
            </a:extLst>
          </p:cNvPr>
          <p:cNvSpPr/>
          <p:nvPr/>
        </p:nvSpPr>
        <p:spPr>
          <a:xfrm>
            <a:off x="4049266" y="1008942"/>
            <a:ext cx="1731605" cy="3325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361FF4-B152-84E8-7FF5-148A7B1A2EAF}"/>
              </a:ext>
            </a:extLst>
          </p:cNvPr>
          <p:cNvSpPr/>
          <p:nvPr/>
        </p:nvSpPr>
        <p:spPr>
          <a:xfrm>
            <a:off x="6032109" y="1008942"/>
            <a:ext cx="1313018" cy="3325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D9D564-4978-CB4E-1EFE-224A37D6D6EF}"/>
              </a:ext>
            </a:extLst>
          </p:cNvPr>
          <p:cNvSpPr/>
          <p:nvPr/>
        </p:nvSpPr>
        <p:spPr>
          <a:xfrm>
            <a:off x="7733425" y="1033240"/>
            <a:ext cx="1731604" cy="3325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Policy ID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E1E244-4B92-3D92-99BB-9165C9AA0F01}"/>
              </a:ext>
            </a:extLst>
          </p:cNvPr>
          <p:cNvSpPr/>
          <p:nvPr/>
        </p:nvSpPr>
        <p:spPr>
          <a:xfrm>
            <a:off x="9853327" y="1033240"/>
            <a:ext cx="1731604" cy="3325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8627D40-CBDD-24D0-99C7-7E77B6F2801D}"/>
              </a:ext>
            </a:extLst>
          </p:cNvPr>
          <p:cNvSpPr/>
          <p:nvPr/>
        </p:nvSpPr>
        <p:spPr>
          <a:xfrm>
            <a:off x="203235" y="1856494"/>
            <a:ext cx="5892765" cy="197808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Trend of sales mode over month</a:t>
            </a:r>
          </a:p>
          <a:p>
            <a:pPr algn="ctr"/>
            <a:r>
              <a:rPr lang="en-US" dirty="0"/>
              <a:t>Ribbon chart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BDC1414-3E16-6859-3FF0-13F615FAE60E}"/>
              </a:ext>
            </a:extLst>
          </p:cNvPr>
          <p:cNvSpPr/>
          <p:nvPr/>
        </p:nvSpPr>
        <p:spPr>
          <a:xfrm>
            <a:off x="6688618" y="1939885"/>
            <a:ext cx="4896313" cy="248373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customer split % by sales mode</a:t>
            </a:r>
          </a:p>
          <a:p>
            <a:pPr algn="ctr"/>
            <a:r>
              <a:rPr lang="en-US" dirty="0"/>
              <a:t>Pie chart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FD65CF8-E565-788D-166B-D2D9DD5CB3C6}"/>
              </a:ext>
            </a:extLst>
          </p:cNvPr>
          <p:cNvSpPr/>
          <p:nvPr/>
        </p:nvSpPr>
        <p:spPr>
          <a:xfrm>
            <a:off x="1" y="6505600"/>
            <a:ext cx="12265572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Abbreviations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F0D315-8559-1D57-26C0-6AD5467C0E0A}"/>
              </a:ext>
            </a:extLst>
          </p:cNvPr>
          <p:cNvSpPr/>
          <p:nvPr/>
        </p:nvSpPr>
        <p:spPr>
          <a:xfrm>
            <a:off x="1133725" y="4012524"/>
            <a:ext cx="4898384" cy="249307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revenue split % by sales mode</a:t>
            </a:r>
          </a:p>
          <a:p>
            <a:pPr algn="ctr"/>
            <a:r>
              <a:rPr lang="en-US" dirty="0"/>
              <a:t>Pie chart</a:t>
            </a:r>
          </a:p>
        </p:txBody>
      </p:sp>
    </p:spTree>
    <p:extLst>
      <p:ext uri="{BB962C8B-B14F-4D97-AF65-F5344CB8AC3E}">
        <p14:creationId xmlns:p14="http://schemas.microsoft.com/office/powerpoint/2010/main" val="38848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1C15-F4F2-DC53-08C9-DF0C69FE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C79418B-0D4C-94A1-00B9-9D5A0A9AFC4D}"/>
              </a:ext>
            </a:extLst>
          </p:cNvPr>
          <p:cNvSpPr/>
          <p:nvPr/>
        </p:nvSpPr>
        <p:spPr>
          <a:xfrm>
            <a:off x="112321" y="898887"/>
            <a:ext cx="2159082" cy="702019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 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02123D-49E6-08D2-86BB-D512358C2279}"/>
              </a:ext>
            </a:extLst>
          </p:cNvPr>
          <p:cNvSpPr/>
          <p:nvPr/>
        </p:nvSpPr>
        <p:spPr>
          <a:xfrm>
            <a:off x="203235" y="116627"/>
            <a:ext cx="1860981" cy="3812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Company Logo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2A85A4-4B29-6E53-B678-FF52E244E71F}"/>
              </a:ext>
            </a:extLst>
          </p:cNvPr>
          <p:cNvSpPr/>
          <p:nvPr/>
        </p:nvSpPr>
        <p:spPr>
          <a:xfrm>
            <a:off x="4915322" y="116627"/>
            <a:ext cx="1860981" cy="3812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button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6E8285-E357-738C-F8A1-AA841A15126E}"/>
              </a:ext>
            </a:extLst>
          </p:cNvPr>
          <p:cNvSpPr/>
          <p:nvPr/>
        </p:nvSpPr>
        <p:spPr>
          <a:xfrm>
            <a:off x="7120366" y="116627"/>
            <a:ext cx="2305524" cy="35924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 analysis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CB4C01-2B6E-C692-3DD5-CA6AA99283E6}"/>
              </a:ext>
            </a:extLst>
          </p:cNvPr>
          <p:cNvSpPr/>
          <p:nvPr/>
        </p:nvSpPr>
        <p:spPr>
          <a:xfrm>
            <a:off x="9631659" y="91785"/>
            <a:ext cx="2174940" cy="4060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mode analysis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E63803-892C-5A28-A9BB-1F28FA2468AB}"/>
              </a:ext>
            </a:extLst>
          </p:cNvPr>
          <p:cNvSpPr/>
          <p:nvPr/>
        </p:nvSpPr>
        <p:spPr>
          <a:xfrm>
            <a:off x="3047999" y="809432"/>
            <a:ext cx="8893629" cy="9431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Filters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7F7786-5BF7-A55F-C217-7EEA177201A7}"/>
              </a:ext>
            </a:extLst>
          </p:cNvPr>
          <p:cNvSpPr/>
          <p:nvPr/>
        </p:nvSpPr>
        <p:spPr>
          <a:xfrm>
            <a:off x="4049266" y="1008942"/>
            <a:ext cx="1731605" cy="3325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5DFB52-3011-6DFE-D7FB-A8E025B144E9}"/>
              </a:ext>
            </a:extLst>
          </p:cNvPr>
          <p:cNvSpPr/>
          <p:nvPr/>
        </p:nvSpPr>
        <p:spPr>
          <a:xfrm>
            <a:off x="6032109" y="1008942"/>
            <a:ext cx="1313018" cy="3325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EFA71C-BEB9-7829-62AF-32138F35F975}"/>
              </a:ext>
            </a:extLst>
          </p:cNvPr>
          <p:cNvSpPr/>
          <p:nvPr/>
        </p:nvSpPr>
        <p:spPr>
          <a:xfrm>
            <a:off x="7733425" y="1033240"/>
            <a:ext cx="1731604" cy="3325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Policy ID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AE86A3-40AC-049A-4AFC-2A45719F8241}"/>
              </a:ext>
            </a:extLst>
          </p:cNvPr>
          <p:cNvSpPr/>
          <p:nvPr/>
        </p:nvSpPr>
        <p:spPr>
          <a:xfrm>
            <a:off x="9853327" y="1033240"/>
            <a:ext cx="1731604" cy="3325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322E2E3-AE30-4D90-0EA7-A4A3AF9F15F5}"/>
              </a:ext>
            </a:extLst>
          </p:cNvPr>
          <p:cNvSpPr/>
          <p:nvPr/>
        </p:nvSpPr>
        <p:spPr>
          <a:xfrm>
            <a:off x="203236" y="1961183"/>
            <a:ext cx="6250116" cy="428501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 v/s expected settlement</a:t>
            </a:r>
          </a:p>
          <a:p>
            <a:pPr algn="ctr"/>
            <a:r>
              <a:rPr lang="en-US" dirty="0"/>
              <a:t>Clustered column chart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925082C-0B9F-D66F-9751-39E1E268E514}"/>
              </a:ext>
            </a:extLst>
          </p:cNvPr>
          <p:cNvSpPr/>
          <p:nvPr/>
        </p:nvSpPr>
        <p:spPr>
          <a:xfrm>
            <a:off x="7018839" y="1752599"/>
            <a:ext cx="4564021" cy="215248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 vs Sales Mode</a:t>
            </a:r>
          </a:p>
          <a:p>
            <a:pPr algn="ctr"/>
            <a:r>
              <a:rPr lang="en-US" dirty="0"/>
              <a:t>Clustered bar chart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F93CCBF-EF06-76C3-0572-8F8DBA25DC92}"/>
              </a:ext>
            </a:extLst>
          </p:cNvPr>
          <p:cNvSpPr/>
          <p:nvPr/>
        </p:nvSpPr>
        <p:spPr>
          <a:xfrm>
            <a:off x="1" y="6505600"/>
            <a:ext cx="12265572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Abbreviations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77E176-D689-91C0-F74D-FD91A1EE75E1}"/>
              </a:ext>
            </a:extLst>
          </p:cNvPr>
          <p:cNvSpPr/>
          <p:nvPr/>
        </p:nvSpPr>
        <p:spPr>
          <a:xfrm>
            <a:off x="7018838" y="4027844"/>
            <a:ext cx="4564021" cy="2307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Group vs Policy Preference</a:t>
            </a:r>
          </a:p>
          <a:p>
            <a:pPr algn="ctr"/>
            <a:r>
              <a:rPr lang="en-US" dirty="0"/>
              <a:t>Sta ked column chart</a:t>
            </a:r>
          </a:p>
        </p:txBody>
      </p:sp>
    </p:spTree>
    <p:extLst>
      <p:ext uri="{BB962C8B-B14F-4D97-AF65-F5344CB8AC3E}">
        <p14:creationId xmlns:p14="http://schemas.microsoft.com/office/powerpoint/2010/main" val="169916233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761</TotalTime>
  <Words>159</Words>
  <Application>Microsoft Office PowerPoint</Application>
  <PresentationFormat>Widescreen</PresentationFormat>
  <Paragraphs>65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 Light</vt:lpstr>
      <vt:lpstr>Metropolitan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yaduvanshi</dc:creator>
  <cp:lastModifiedBy>himanshu yaduvanshi</cp:lastModifiedBy>
  <cp:revision>23</cp:revision>
  <dcterms:created xsi:type="dcterms:W3CDTF">2025-01-17T14:28:04Z</dcterms:created>
  <dcterms:modified xsi:type="dcterms:W3CDTF">2025-01-21T15:27:22Z</dcterms:modified>
</cp:coreProperties>
</file>